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AI-Assisted Triage &amp; Treatment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0CCDD"/>
                </a:solidFill>
                <a:latin typeface="Calibri"/>
              </a:rPr>
              <a:t>VitalEdge AI  —  Hemodynamic Monitoring &amp; Decision Support for the Battlefield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4572000" cy="27432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5960C"/>
                </a:solidFill>
                <a:latin typeface="Calibri"/>
              </a:rPr>
              <a:t>Veteran Vectors  (Prime)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Authentic Consortium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  <a:latin typeface="Calibri"/>
              </a:rPr>
              <a:t>PROJ00628  |  DIU AI-Assisted Triage &amp; Treatment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  <a:latin typeface="Calibri"/>
              </a:rPr>
              <a:t>February 2026  |  Solution Brief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708099"/>
                </a:solidFill>
                <a:latin typeface="Calibri"/>
              </a:rPr>
              <a:t>UNCLASSIFIED  |  SDVOSB  |  CAGE: XXXXX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91840" cy="3200400"/>
          </a:xfrm>
          <a:prstGeom prst="roundRect">
            <a:avLst/>
          </a:prstGeom>
          <a:solidFill>
            <a:srgbClr val="E8EEF6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291840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No Real-Time Decision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Forward combat medics operating in DDIL (Denied, Disrupted, Intermittent, Limited) environments have zero hemodynamic decision-support tools. They rely on training and instinct under extreme stress.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54480"/>
            <a:ext cx="3291840" cy="3200400"/>
          </a:xfrm>
          <a:prstGeom prst="roundRect">
            <a:avLst/>
          </a:prstGeom>
          <a:solidFill>
            <a:srgbClr val="E8EEF6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554480"/>
            <a:ext cx="3291840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7373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1945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Subjective Triage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4320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Current triage protocols depend on subjective visual and manual assessment. Cognitive overload in mass casualty events leads to mis-triage rates of 20–50%, directly impacting survivability.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54480"/>
            <a:ext cx="3291840" cy="3200400"/>
          </a:xfrm>
          <a:prstGeom prst="roundRect">
            <a:avLst/>
          </a:prstGeom>
          <a:solidFill>
            <a:srgbClr val="E8EEF6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291840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1945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Communication Delays Cost Lives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74320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Casualty status updates from point-of-injury to Role 2/3 facilities are delayed or lost. Receiving medical teams lack predictive data, reducing the Golden Hour advantage.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solidFill>
            <a:srgbClr val="F8F4E8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B2A4A"/>
                </a:solidFill>
                <a:latin typeface="Calibri"/>
              </a:rPr>
              <a:t>"Preventable death on the battlefield remains the #1 DoD medical priority. AI-enabled triage can close the gap between injury and intervention."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Solution — VitalEdge AI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A4A"/>
                </a:solidFill>
                <a:latin typeface="Calibri"/>
              </a:rPr>
              <a:t>An AI-powered hemodynamic monitoring and triage decision-support platform purpose-built for DDIL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926080" cy="2743200"/>
          </a:xfrm>
          <a:prstGeom prst="roundRect">
            <a:avLst/>
          </a:prstGeom>
          <a:solidFill>
            <a:srgbClr val="E8EEF6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2926080" cy="5943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DEVICE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0428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Wearable Sensors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COTS ruggedized hemodynamic sensors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Heart rate, SpO2, blood pressure, temp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BLE / Wi-Fi / USB connectivity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72-hour battery | MIL-STD-810H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10896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5960C"/>
                </a:solidFill>
                <a:latin typeface="Calibri"/>
              </a:rPr>
              <a:t>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011680"/>
            <a:ext cx="2926080" cy="2743200"/>
          </a:xfrm>
          <a:prstGeom prst="roundRect">
            <a:avLst/>
          </a:prstGeom>
          <a:solidFill>
            <a:srgbClr val="E8EEF6"/>
          </a:solidFill>
          <a:ln w="25400">
            <a:solidFill>
              <a:srgbClr val="2C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011680"/>
            <a:ext cx="2926080" cy="59436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0574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EDGE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0428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AI Inference &amp;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69748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On-device ML inference (&lt;50ms)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TCCC MARCH triage scoring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Deterioration early warning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Store-and-forward for DDIL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10896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5960C"/>
                </a:solidFill>
                <a:latin typeface="Calibri"/>
              </a:rPr>
              <a:t>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011680"/>
            <a:ext cx="2926080" cy="2743200"/>
          </a:xfrm>
          <a:prstGeom prst="roundRect">
            <a:avLst/>
          </a:prstGeom>
          <a:solidFill>
            <a:srgbClr val="E8EEF6"/>
          </a:solidFill>
          <a:ln w="25400">
            <a:solidFill>
              <a:srgbClr val="3D55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2011680"/>
            <a:ext cx="2926080" cy="594360"/>
          </a:xfrm>
          <a:prstGeom prst="rect">
            <a:avLst/>
          </a:prstGeom>
          <a:solidFill>
            <a:srgbClr val="3D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0574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CLOUD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0428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Analytics &amp; EHR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69748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AWS GovCloud (IL-5)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Population health analytics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MHS GENESIS / TMIP integration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Fleet management &amp; OTA updates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solidFill>
            <a:srgbClr val="F8F4E8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KEY:  Operates fully disconnected  •  AI recommends, medic decides (human-in-the-loop)  •  Automatic sync when connectivity restored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20040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DEVICE TIER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017520" cy="59436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482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Hemodynamic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HR, SpO2, BP, Temp, ECG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30175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340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Wearable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90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Limb-mount, chest-strap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3017520" cy="59436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198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Standoff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75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Handheld probe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30175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056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Comms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616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BLE 5.0, Wi-Fi 6, USB-C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2918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463040"/>
            <a:ext cx="3200400" cy="50292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15361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EDGE TIER (BATDOK)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011680"/>
            <a:ext cx="3017520" cy="59436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0482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ONNX Runtime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3042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ML model inference &lt;50ms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697480"/>
            <a:ext cx="30175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7340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Triage Algorithm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990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MARCH protocol scoring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383280"/>
            <a:ext cx="3017520" cy="59436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4198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Early Warning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675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15-30 min deterioration pred.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069080"/>
            <a:ext cx="30175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1056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Local Data 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3616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SQLite + store-and-forward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4754880"/>
            <a:ext cx="3017520" cy="59436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47914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ATAK Plugin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0474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Blue Force Tracker overlay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32918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1463040"/>
            <a:ext cx="3200400" cy="502920"/>
          </a:xfrm>
          <a:prstGeom prst="rect">
            <a:avLst/>
          </a:prstGeom>
          <a:solidFill>
            <a:srgbClr val="3D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15361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CLOUD TIER (GovCloud)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2011680"/>
            <a:ext cx="3017520" cy="59436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20482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API Gateway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23042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REST + MQTT broker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2697480"/>
            <a:ext cx="30175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27340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Analytics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2990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Population health / trends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3383280"/>
            <a:ext cx="3017520" cy="59436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80" y="34198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EHR 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80" y="3675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HL7 FHIR → MHS GENESIS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4069080"/>
            <a:ext cx="30175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41056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Fleet Management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43616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OTA updates, device health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0" y="4754880"/>
            <a:ext cx="3017520" cy="594360"/>
          </a:xfrm>
          <a:prstGeom prst="roundRect">
            <a:avLst/>
          </a:prstGeom>
          <a:solidFill>
            <a:srgbClr val="E8EEF6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80" y="47914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Auth &amp;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80" y="50474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CAC/PIV, AES-256, TLS 1.3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760720"/>
            <a:ext cx="10698480" cy="457200"/>
          </a:xfrm>
          <a:prstGeom prst="rect">
            <a:avLst/>
          </a:prstGeom>
          <a:solidFill>
            <a:srgbClr val="F8F4E8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78815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2A4A"/>
                </a:solidFill>
                <a:latin typeface="Calibri"/>
              </a:rPr>
              <a:t>DATA FLOW:  Sensors → BLE → Edge (BATDOK) → Mesh/SATCOM → Cloud (GovCloud)  |  Store-and-forward ensures DDIL resilience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AI/ML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Triage Classification:</a:t>
            </a:r>
            <a:r>
              <a:rPr sz="1300" b="0">
                <a:solidFill>
                  <a:srgbClr val="333333"/>
                </a:solidFill>
                <a:latin typeface="Calibri"/>
              </a:rPr>
              <a:t> Real-time TCCC MARCH protocol scoring (Massive hemorrhage, Airway, Respiration, Circulation, Hypothermia)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Deterioration Early Warning: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15–30 minute predictive model alerts medics before clinical signs manifest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Training Data:</a:t>
            </a:r>
            <a:r>
              <a:rPr sz="1300" b="0">
                <a:solidFill>
                  <a:srgbClr val="333333"/>
                </a:solidFill>
                <a:latin typeface="Calibri"/>
              </a:rPr>
              <a:t> MIMIC-III/IV critical care database + DoD Trauma Registry + synthetic augmentation for combat-specific scenarios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Edge Inference:</a:t>
            </a:r>
            <a:r>
              <a:rPr sz="1300" b="0">
                <a:solidFill>
                  <a:srgbClr val="333333"/>
                </a:solidFill>
                <a:latin typeface="Calibri"/>
              </a:rPr>
              <a:t> &lt;50ms latency on ARM-based edge compute — no cloud dependency required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Human-in-the-Loop:</a:t>
            </a:r>
            <a:r>
              <a:rPr sz="1300" b="0">
                <a:solidFill>
                  <a:srgbClr val="333333"/>
                </a:solidFill>
                <a:latin typeface="Calibri"/>
              </a:rPr>
              <a:t> AI generates recommendations and confidence scores; medic retains full decision authority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Model Format:</a:t>
            </a:r>
            <a:r>
              <a:rPr sz="1300" b="0">
                <a:solidFill>
                  <a:srgbClr val="333333"/>
                </a:solidFill>
                <a:latin typeface="Calibri"/>
              </a:rPr>
              <a:t> ONNX for cross-platform portability; quantized INT8 for edge efficiency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00400" cy="100584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&lt;50ms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Edge Inference
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560320"/>
            <a:ext cx="3200400" cy="100584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15-30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Predictive
Warning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749040"/>
            <a:ext cx="3200400" cy="100584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8862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MARCH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3891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TCCC Protocol
Compliant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937760"/>
            <a:ext cx="3200400" cy="100584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0749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ONNX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5778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Cross-Platform
ML Runtime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468880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4475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5960C"/>
                </a:solidFill>
                <a:latin typeface="Calibri"/>
              </a:rPr>
              <a:t>BATDOK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0B0C8"/>
                </a:solidFill>
                <a:latin typeface="Calibri"/>
              </a:rPr>
              <a:t>Medic Tablet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Primary UI for triage scores &amp; vitals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Ruggedized Android tablet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Touch-optimized casualty workflow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Works fully offline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3716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371600"/>
            <a:ext cx="2468880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44475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5960C"/>
                </a:solidFill>
                <a:latin typeface="Calibri"/>
              </a:rPr>
              <a:t>ATAK / TAK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783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0B0C8"/>
                </a:solidFill>
                <a:latin typeface="Calibri"/>
              </a:rPr>
              <a:t>Commander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Blue Force Tracker casualty overlay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Real-time 9-line MEDEVAC data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Mass casualty event visualization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Plugin architecture via TAK SDK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3716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1371600"/>
            <a:ext cx="2468880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144475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5960C"/>
                </a:solidFill>
                <a:latin typeface="Calibri"/>
              </a:rPr>
              <a:t>EHR / FHIR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1783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0B0C8"/>
                </a:solidFill>
                <a:latin typeface="Calibri"/>
              </a:rPr>
              <a:t>Clinical Continuity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HL7 FHIR R4 standard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MHS GENESIS integration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TMIP-J compatibility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Automated encounter creation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13716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1371600"/>
            <a:ext cx="2468880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144475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5960C"/>
                </a:solidFill>
                <a:latin typeface="Calibri"/>
              </a:rPr>
              <a:t>Mesh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783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0B0C8"/>
                </a:solidFill>
                <a:latin typeface="Calibri"/>
              </a:rPr>
              <a:t>Multi-Casualty Comms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MQTT-based pub/sub messaging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Automatic peer discovery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Data deduplication &amp; sync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Resilient to node loss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Hardware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COTS-Based Design:</a:t>
            </a:r>
            <a:r>
              <a:rPr sz="1300" b="0">
                <a:solidFill>
                  <a:srgbClr val="333333"/>
                </a:solidFill>
                <a:latin typeface="Calibri"/>
              </a:rPr>
              <a:t> Ruggedized commercial off-the-shelf hemodynamic sensor suite minimizes development risk and accelerates fielding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Dual Configuration:</a:t>
            </a:r>
            <a:r>
              <a:rPr sz="1300" b="0">
                <a:solidFill>
                  <a:srgbClr val="333333"/>
                </a:solidFill>
                <a:latin typeface="Calibri"/>
              </a:rPr>
              <a:t> Wearable (continuous monitoring on limb/chest) and standoff (handheld probe for rapid assessment)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72-Hour Battery Life:</a:t>
            </a:r>
            <a:r>
              <a:rPr sz="1300" b="0">
                <a:solidFill>
                  <a:srgbClr val="333333"/>
                </a:solidFill>
                <a:latin typeface="Calibri"/>
              </a:rPr>
              <a:t> Extended operation without resupply; hot-swappable battery packs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MIL-STD-810H Compliant:</a:t>
            </a:r>
            <a:r>
              <a:rPr sz="1300" b="0">
                <a:solidFill>
                  <a:srgbClr val="333333"/>
                </a:solidFill>
                <a:latin typeface="Calibri"/>
              </a:rPr>
              <a:t> Shock, vibration, temperature, humidity, altitude, sand/dust environmental testing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Multi-Protocol Connectivity:</a:t>
            </a:r>
            <a:r>
              <a:rPr sz="1300" b="0">
                <a:solidFill>
                  <a:srgbClr val="333333"/>
                </a:solidFill>
                <a:latin typeface="Calibri"/>
              </a:rPr>
              <a:t> BLE 5.0, Wi-Fi 6, USB-C for maximum interoperability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IP67 Rating: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Waterproof and dustproof for austere environments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1920240" cy="118872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508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72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Battery Life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371600"/>
            <a:ext cx="1920240" cy="118872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508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MIL-STD
810H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0116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Environmental
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743200"/>
            <a:ext cx="1920240" cy="118872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8803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IP67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3832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Ingress
Protection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2743200"/>
            <a:ext cx="1920240" cy="118872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8803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BLE 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3832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Primary
Connectivity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114800"/>
            <a:ext cx="1920240" cy="118872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2519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&lt;100g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548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Sensor
Weight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FDA &amp; Regulatory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8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4688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1280160"/>
            <a:ext cx="502920" cy="50292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510(k) Pathway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Predicate device identification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Substantial equivalence demonstration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Class II medical device classification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Target: Q3 2026 submission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463040"/>
            <a:ext cx="24688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60520" y="1280160"/>
            <a:ext cx="502920" cy="50292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83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SaMD — IEC 62304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28600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Software as Medical Device classification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Full software development lifecycle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Unit, integration, system-level testing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Traceability matrix maintained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463040"/>
            <a:ext cx="24688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1280160"/>
            <a:ext cx="502920" cy="50292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783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ISO 14971 Risk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28600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Hazard analysis &amp; risk assessment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Risk control measures documented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Residual risk evaluation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Post-market surveillance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463040"/>
            <a:ext cx="24688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55480" y="1280160"/>
            <a:ext cx="502920" cy="50292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783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Clinical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28600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DoD Trauma Registry benchmarking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MIMIC-III/IV retrospective study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Simulated combat casualty trials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Sensitivity/specificity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Cybersecurity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9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Infrastructure &amp; 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IL-5 ATO pathway via AWS GovCloud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FedRAMP High baseline alignment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Continuous ATO (cATO) methodology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STIG-hardened deployment configurations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Infrastructure-as-code (Terraform)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49040"/>
            <a:ext cx="530352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2219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Supply Chain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Software Bill of Materials (SBOM)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Signed builds &amp; verified provenance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Automated vulnerability scanning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Container image attestation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NIST SP 800-171 compliance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4475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AES-256 encryption at rest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TLS 1.3 encryption in transit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Field-level encryption for PII/PHI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HIPAA-compliant data handling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Data sovereignty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4904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49040"/>
            <a:ext cx="530352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2219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Identity &amp;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519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CAC / PIV authentication required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Role-based access control (RBAC)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Multi-factor authentication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Audit logging &amp; SIEM integration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Zero-trust architecture principles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Scalability &amp;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10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320040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361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MAY 2026  —  Sword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30 units delivered for operational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0116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C5960C"/>
                </a:solidFill>
                <a:latin typeface="Calibri"/>
              </a:rPr>
              <a:t>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46304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463040"/>
            <a:ext cx="3200400" cy="50292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15361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DEC 2026  —  Limited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05740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500 units for expanded testing &amp;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20116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C5960C"/>
                </a:solidFill>
                <a:latin typeface="Calibri"/>
              </a:rPr>
              <a:t>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46304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55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1463040"/>
            <a:ext cx="3200400" cy="502920"/>
          </a:xfrm>
          <a:prstGeom prst="rect">
            <a:avLst/>
          </a:prstGeom>
          <a:solidFill>
            <a:srgbClr val="3D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5361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MAY 2027  —  Full-Rate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05740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15,000 units/year manufacturing capacity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66160"/>
            <a:ext cx="2560320" cy="109728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$85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Per-Unit Software
Cost at Scale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566160"/>
            <a:ext cx="2560320" cy="109728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37033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OTA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2062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Over-the-Air
Update Capability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66160"/>
            <a:ext cx="2560320" cy="109728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7033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24/7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2062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Automated Fleet
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566160"/>
            <a:ext cx="2560320" cy="109728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37033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2062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Continuous
Improvement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Domestic COTS supply chain with dual-source components for resilience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Automated test &amp; calibration stations for quality assurance at scale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MIL-STD-810H environmental screening integrated into production line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Packaging optimized for rapid deployment kits (squad &amp; platoon level)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Team &amp; Consortium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11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146304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960C"/>
                </a:solidFill>
                <a:latin typeface="Calibri"/>
              </a:rPr>
              <a:t>VETERAN VECTORS  (Prime)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AI/ML  |  Software Development  |  Edge Compute  |  Systems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B0C8"/>
                </a:solidFill>
                <a:latin typeface="Calibri"/>
              </a:rPr>
              <a:t>Service-Disabled Veteran-Owned Small Business (SDVOSB)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0CCDD"/>
                </a:solidFill>
                <a:latin typeface="Calibri"/>
              </a:rPr>
              <a:t>Founded by combat veterans who understand the operational environment. Deep expertise in AI/ML, edge computing, and DoD software development. Proven delivery on SBIR/STTR and OTA contracts.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24688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4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2468880" cy="54864"/>
          </a:xfrm>
          <a:prstGeom prst="rect">
            <a:avLst/>
          </a:prstGeom>
          <a:solidFill>
            <a:srgbClr val="8B4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832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Medical Device OEM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Hardware engineering
FDA regulatory
Manufacturing QMS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200400"/>
            <a:ext cx="24688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200400"/>
            <a:ext cx="2468880" cy="54864"/>
          </a:xfrm>
          <a:prstGeom prst="rect">
            <a:avLst/>
          </a:prstGeom>
          <a:solidFill>
            <a:srgbClr val="2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3832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Cloud / Cyber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93192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IL-5 ATO expertise
FedRAMP alignment
Security operations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200400"/>
            <a:ext cx="24688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2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200400"/>
            <a:ext cx="2468880" cy="54864"/>
          </a:xfrm>
          <a:prstGeom prst="rect">
            <a:avLst/>
          </a:prstGeom>
          <a:solidFill>
            <a:srgbClr val="4A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3832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Manufacturing 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93192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Scale production
Supply chain mgmt
Quality assurance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200400"/>
            <a:ext cx="24688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3200400"/>
            <a:ext cx="2468880" cy="54864"/>
          </a:xfrm>
          <a:prstGeom prst="rect">
            <a:avLst/>
          </a:prstGeom>
          <a:solidFill>
            <a:srgbClr val="6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3832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Clinical SME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93192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TCCC expertise
Combat medicine
Clinical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Competitive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12 / 15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Veteran-Owned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9164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Founded by combat veterans with firsthand understanding of battlefield medicine challenges and operational environments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94560"/>
            <a:ext cx="9601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AI-First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Purpose-built AI/ML engine vs. sensor-only incumbents; predictive analytics, not just data display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200400"/>
            <a:ext cx="9601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832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DDIL-Native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033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Designed ground-up for disconnected operations — not a cloud product with an offline mode bolted 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206240"/>
            <a:ext cx="9601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891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Open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HL7 FHIR, MQTT, ONNX ensure interoperability and avoid vendor lock-in across the DoD ecosystem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212080"/>
            <a:ext cx="9601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Consortium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150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Small business speed and innovation with large-enterprise manufacturing and regulatory capability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Timeline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13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698480" cy="7315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450592"/>
            <a:ext cx="274320" cy="27432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MAR
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880360"/>
            <a:ext cx="1280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Solution Brief
Submitted</a:t>
            </a:r>
          </a:p>
        </p:txBody>
      </p:sp>
      <p:sp>
        <p:nvSpPr>
          <p:cNvPr id="12" name="Oval 11"/>
          <p:cNvSpPr/>
          <p:nvPr/>
        </p:nvSpPr>
        <p:spPr>
          <a:xfrm>
            <a:off x="2779776" y="2450592"/>
            <a:ext cx="274320" cy="27432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6" y="155448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APR
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2576" y="2880360"/>
            <a:ext cx="1280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Pitch Days
Presentation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384547" y="2450592"/>
            <a:ext cx="274320" cy="27432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8787" y="155448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MAY
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7347" y="2880360"/>
            <a:ext cx="1280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Sword 2026 Demo
30 Units</a:t>
            </a:r>
          </a:p>
        </p:txBody>
      </p:sp>
      <p:sp>
        <p:nvSpPr>
          <p:cNvPr id="18" name="Oval 17"/>
          <p:cNvSpPr/>
          <p:nvPr/>
        </p:nvSpPr>
        <p:spPr>
          <a:xfrm>
            <a:off x="7059168" y="2450592"/>
            <a:ext cx="274320" cy="27432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155448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JUN-DEC
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880360"/>
            <a:ext cx="1280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FDA 510(k)
IL-5 ATO</a:t>
            </a:r>
          </a:p>
        </p:txBody>
      </p:sp>
      <p:sp>
        <p:nvSpPr>
          <p:cNvPr id="21" name="Oval 20"/>
          <p:cNvSpPr/>
          <p:nvPr/>
        </p:nvSpPr>
        <p:spPr>
          <a:xfrm>
            <a:off x="11338560" y="2450592"/>
            <a:ext cx="274320" cy="274320"/>
          </a:xfrm>
          <a:prstGeom prst="ellipse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155448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MAY
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2880360"/>
            <a:ext cx="1280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Full Production
15,000 units/yr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3566160" cy="109728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091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1: Design &amp;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Mar – May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572000"/>
            <a:ext cx="3566160" cy="1097280"/>
          </a:xfrm>
          <a:prstGeom prst="roundRect">
            <a:avLst/>
          </a:prstGeom>
          <a:solidFill>
            <a:srgbClr val="2C3E6B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7091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2: Regulatory &amp;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120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Jun – Dec 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572000"/>
            <a:ext cx="3566160" cy="1097280"/>
          </a:xfrm>
          <a:prstGeom prst="roundRect">
            <a:avLst/>
          </a:prstGeom>
          <a:solidFill>
            <a:srgbClr val="3D558C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7091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3: Scale Production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20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Jan – May 2027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Investment &amp;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0B0C8"/>
                </a:solidFill>
                <a:latin typeface="Calibri"/>
              </a:rPr>
              <a:t>Veteran Vectors  |  Authentic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PROJ00628  |  AI-Assisted Triage &amp; Treatment  |  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Calibri"/>
              </a:rPr>
              <a:t>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51760" cy="146304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~$506K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Phase 1-2
Development Investment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651760" cy="146304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087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$85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116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Per-Unit Software
Cost at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651760" cy="146304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Units for Sword
2026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71600"/>
            <a:ext cx="2651760" cy="146304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5087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5960C"/>
                </a:solidFill>
                <a:latin typeface="Calibri"/>
              </a:rPr>
              <a:t>15,000/yr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116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CCDD"/>
                </a:solidFill>
                <a:latin typeface="Calibri"/>
              </a:rPr>
              <a:t>Full-Rate
Production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Competitive Pricing: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Per-unit cost at scale is competitive with existing hemodynamic monitoring systems — with significantly greater AI capability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Prize Challenge Investment:</a:t>
            </a:r>
            <a:r>
              <a:rPr sz="1300" b="0">
                <a:solidFill>
                  <a:srgbClr val="333333"/>
                </a:solidFill>
                <a:latin typeface="Calibri"/>
              </a:rPr>
              <a:t> Veteran Vectors' self-funded participation demonstrates commitment and de-risks the Government's investment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Follow-On OTA Ready:</a:t>
            </a:r>
            <a:r>
              <a:rPr sz="1300" b="0">
                <a:solidFill>
                  <a:srgbClr val="333333"/>
                </a:solidFill>
                <a:latin typeface="Calibri"/>
              </a:rPr>
              <a:t> Prototype contract-ready via DIU Other Transaction Authority pathway for rapid scaling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Cost Avoidance:</a:t>
            </a:r>
            <a:r>
              <a:rPr sz="1300" b="0">
                <a:solidFill>
                  <a:srgbClr val="333333"/>
                </a:solidFill>
                <a:latin typeface="Calibri"/>
              </a:rPr>
              <a:t> Early AI-assisted triage reduces downstream evacuation and treatment costs by improving initial casualty categorization accuracy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Subscription Model Available:</a:t>
            </a:r>
            <a:r>
              <a:rPr sz="1300" b="0">
                <a:solidFill>
                  <a:srgbClr val="333333"/>
                </a:solidFill>
                <a:latin typeface="Calibri"/>
              </a:rPr>
              <a:t> Optional SaaS model for cloud analytics tier reduces upfront acquisition cost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2743200" cy="54864"/>
          </a:xfrm>
          <a:prstGeom prst="rect">
            <a:avLst/>
          </a:prstGeom>
          <a:solidFill>
            <a:srgbClr val="C5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VitalEdge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5960C"/>
                </a:solidFill>
                <a:latin typeface="Calibri"/>
              </a:rPr>
              <a:t>Saving Lives at the Point of Injury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0515600" cy="18288"/>
          </a:xfrm>
          <a:prstGeom prst="rect">
            <a:avLst/>
          </a:prstGeom>
          <a:solidFill>
            <a:srgbClr val="3D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Veteran Vectors, LLC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0CCDD"/>
                </a:solidFill>
                <a:latin typeface="Calibri"/>
              </a:rPr>
              <a:t>Service-Disabled Veteran-Owned Small Business (SDVOSB)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0CCDD"/>
                </a:solidFill>
                <a:latin typeface="Calibri"/>
              </a:rPr>
              <a:t>Point of Contact:  [Name, Title]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0CCDD"/>
                </a:solidFill>
                <a:latin typeface="Calibri"/>
              </a:rPr>
              <a:t>Email:  [email]@veteranvectors.com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0CCDD"/>
                </a:solidFill>
                <a:latin typeface="Calibri"/>
              </a:rPr>
              <a:t>Phone:  [phone]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0CCDD"/>
                </a:solidFill>
                <a:latin typeface="Calibri"/>
              </a:rPr>
              <a:t>Web:  www.veteranvectors.com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474720"/>
            <a:ext cx="3657600" cy="594360"/>
          </a:xfrm>
          <a:prstGeom prst="roundRect">
            <a:avLst/>
          </a:prstGeom>
          <a:solidFill>
            <a:srgbClr val="243A5E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3566160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5960C"/>
                </a:solidFill>
                <a:latin typeface="Calibri"/>
              </a:rPr>
              <a:t>SDVOSB Certified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251960"/>
            <a:ext cx="3657600" cy="594360"/>
          </a:xfrm>
          <a:prstGeom prst="roundRect">
            <a:avLst/>
          </a:prstGeom>
          <a:solidFill>
            <a:srgbClr val="243A5E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4343400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5960C"/>
                </a:solidFill>
                <a:latin typeface="Calibri"/>
              </a:rPr>
              <a:t>PROJ00628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029200"/>
            <a:ext cx="3657600" cy="594360"/>
          </a:xfrm>
          <a:prstGeom prst="roundRect">
            <a:avLst/>
          </a:prstGeom>
          <a:solidFill>
            <a:srgbClr val="243A5E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5120640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5960C"/>
                </a:solidFill>
                <a:latin typeface="Calibri"/>
              </a:rPr>
              <a:t>Ready for Pitch 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806440"/>
            <a:ext cx="3657600" cy="594360"/>
          </a:xfrm>
          <a:prstGeom prst="roundRect">
            <a:avLst/>
          </a:prstGeom>
          <a:solidFill>
            <a:srgbClr val="243A5E"/>
          </a:solidFill>
          <a:ln w="12700">
            <a:solidFill>
              <a:srgbClr val="C5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5897880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5960C"/>
                </a:solidFill>
                <a:latin typeface="Calibri"/>
              </a:rPr>
              <a:t>Authentic Consortium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708099"/>
                </a:solidFill>
                <a:latin typeface="Calibri"/>
              </a:rPr>
              <a:t>UNCLASSIFIED  |  Distribution Statement A: Approved for Public 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